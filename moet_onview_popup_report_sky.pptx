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팝업 리테일 공간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68580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200" b="1" spc="-14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BEAUTY</a:t>
            </a:r>
          </a:p>
          <a:p>
            <a:pPr algn="l">
              <a:lnSpc>
                <a:spcPct val="102000"/>
              </a:lnSpc>
            </a:pPr>
            <a:r>
              <a:rPr sz="5200" b="1" spc="-14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PLAYGROUND</a:t>
            </a:r>
          </a:p>
          <a:p>
            <a:pPr algn="l">
              <a:lnSpc>
                <a:spcPct val="102000"/>
              </a:lnSpc>
            </a:pPr>
            <a:r>
              <a:rPr sz="5200" b="1" spc="-14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IN SEONGSU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리테일 공간 팝업스토어 분석 보고서</a:t>
            </a:r>
          </a:p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모에뜨(moét) 브랜드존 중심 · moét × ONVIEW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578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spc="-2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개요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5257800"/>
            <a:ext cx="1645920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1E91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5257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spc="-2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종합 의견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14주차 과제 레포트 · 과목명 _____ · 학번 _____ · 이름 _____</a:t>
            </a:r>
          </a:p>
        </p:txBody>
      </p:sp>
      <p:pic>
        <p:nvPicPr>
          <p:cNvPr id="11" name="Picture 10" descr="c8c2aca3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85850"/>
            <a:ext cx="3749039" cy="4686299"/>
          </a:xfrm>
          <a:prstGeom prst="roundRect">
            <a:avLst>
              <a:gd name="adj" fmla="val 3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810512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04825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-12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55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성수동 중심가에서 개최된 인디 뷰티 큐레이션 플랫폼 ‘오엔뷰(ONVIEW)’와 모에뜨의 협업 팝업스토어. K-뷰티 고관여 MZ세대를 타깃으로, 일시적 제품 판매를 넘어 오감 체험(시향·제형)과 팝업 한정 리워드를 제공하는 ‘경험형 리테일 매장’으로 기획되었음.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2920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7550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-2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운영 유의</a:t>
            </a:r>
          </a:p>
          <a:p>
            <a:pPr algn="l">
              <a:lnSpc>
                <a:spcPct val="130000"/>
              </a:lnSpc>
            </a:pPr>
            <a:r>
              <a:rPr sz="1300" b="0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모에뜨 브랜드존은 6월 4일(목)까지만 조기 운영</a:t>
            </a:r>
          </a:p>
        </p:txBody>
      </p:sp>
      <p:pic>
        <p:nvPicPr>
          <p:cNvPr id="10" name="Picture 9" descr="8d434258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8256"/>
            <a:ext cx="4462272" cy="1783080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6858000" y="4041648"/>
            <a:ext cx="4462272" cy="1828800"/>
          </a:xfrm>
          <a:prstGeom prst="roundRect">
            <a:avLst>
              <a:gd name="adj" fmla="val 7000"/>
            </a:avLst>
          </a:prstGeom>
          <a:solidFill>
            <a:srgbClr val="F4FAFD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404164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spc="-24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041648"/>
            <a:ext cx="267919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spc="-24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모에뜨 (moét)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0" y="4498848"/>
            <a:ext cx="3913632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50608" y="449884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spc="-24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98848"/>
            <a:ext cx="267919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spc="-24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2026.05.22(금) ~ 06.10(수)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4956048"/>
            <a:ext cx="3913632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50608" y="495604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spc="-24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운영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56048"/>
            <a:ext cx="267919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spc="-24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11:00 ~ 19:00 (입장 마감 18:30)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5413248"/>
            <a:ext cx="3913632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50608" y="541324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spc="-24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장소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413248"/>
            <a:ext cx="267919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1" spc="-24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맵달SEOUL 성수 3F · 성수이로16길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01  LOCALITY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장소성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트렌드세터의 중심지, 성수동 상권과의 유기적 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1288" y="267004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5292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트렌디한 소비층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273552"/>
            <a:ext cx="2728874" cy="722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국내외 MZ세대 및 K-뷰티 고관여 소비자가 가장 활발히 유입되는 서울 성수동 중심 상권에 위치.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8802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1410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우수한 접근성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1410" y="3090672"/>
            <a:ext cx="2728874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성수역 3번 출구에서 도보 5분 거리에 위치해 자연스러운 도보 방문객 유입률 확보.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8924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1532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공간의 적합성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1532" y="3090672"/>
            <a:ext cx="2728874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‘맵달서울’ 3층을 활용, 대형 채널에서 못 보던 신선한 인디 뷰티를 발굴·체험하는 성수동 감성과 시너지.</a:t>
            </a:r>
          </a:p>
        </p:txBody>
      </p:sp>
      <p:pic>
        <p:nvPicPr>
          <p:cNvPr id="17" name="Picture 16" descr="b1fb954d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70832"/>
            <a:ext cx="5090007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868680" y="6053328"/>
            <a:ext cx="50900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맵달SEOUL 성수 외관</a:t>
            </a:r>
          </a:p>
        </p:txBody>
      </p:sp>
      <p:pic>
        <p:nvPicPr>
          <p:cNvPr id="19" name="Picture 18" descr="dd3d92a8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958" y="4370832"/>
            <a:ext cx="1302105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6233007" y="6053328"/>
            <a:ext cx="50900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Location Map · 성수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02  SYMBOLISM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상징성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상품 · 컬러 · 컨셉 · 브랜드 메시지로 구축한 브랜드 아이덴티티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77440"/>
            <a:ext cx="5099151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74a25a4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633472"/>
            <a:ext cx="1280160" cy="128016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2660904" y="2688336"/>
            <a:ext cx="30508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[1] 상품 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3072384"/>
            <a:ext cx="3050895" cy="932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스칼프 샴푸(톳수·창포뿌리줄기수 베이스, 고함량 식물성 카페인)와 두피 앰플(마이크로 스피큘 공법)을 중앙 매대에 배치, 고기능성 기술력을 직관적으로 체험.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377440"/>
            <a:ext cx="5099151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57d5e583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5" y="2633472"/>
            <a:ext cx="1280160" cy="128016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8016087" y="2688336"/>
            <a:ext cx="30508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[2] 컬러  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072384"/>
            <a:ext cx="3050895" cy="932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메인 스카이 블루(청량함·두피 회복)로 시선을 사로잡고, 미니멀 화이트&amp;그레이(정직함·과학적 근거)로 신뢰감 있는 무드 조성.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70832"/>
            <a:ext cx="5099151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e8bb96b0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626864"/>
            <a:ext cx="1280160" cy="128016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2660904" y="4681728"/>
            <a:ext cx="30508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[3] 컨셉 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904" y="5065776"/>
            <a:ext cx="3050895" cy="932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원료 설명 카드·감성 엽서로 ‘정직한 성분 연구소’를 전달. 스크런치·티코스터 증정으로 ‘산뜻한 데일리 루틴’을 경험으로 소유하게 설계.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370832"/>
            <a:ext cx="5099151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9533c803d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895" y="4626864"/>
            <a:ext cx="1280160" cy="1280160"/>
          </a:xfrm>
          <a:prstGeom prst="roundRect">
            <a:avLst>
              <a:gd name="adj" fmla="val 6000"/>
            </a:avLst>
          </a:prstGeom>
        </p:spPr>
      </p:pic>
      <p:sp>
        <p:nvSpPr>
          <p:cNvPr id="21" name="Rounded Rectangle 20"/>
          <p:cNvSpPr/>
          <p:nvPr/>
        </p:nvSpPr>
        <p:spPr>
          <a:xfrm>
            <a:off x="8016087" y="4681728"/>
            <a:ext cx="365760" cy="82296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087" y="4846320"/>
            <a:ext cx="30508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[4] 메시지 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6087" y="5230368"/>
            <a:ext cx="30508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“Pure Origin, Real Change” — 순수한 핵심 원료를 고함량 설계해 실제 두피 개선과 긍정적 효과를 체감하게 한다는 약속.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03  THEMATIC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테마성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‘Pure Origin, Real Change’ — 체험 중심의 고기능성 헤어 랩(Lab)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95728"/>
            <a:ext cx="5099151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1288" y="267004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52928"/>
            <a:ext cx="45139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메인 테마의 구체화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273552"/>
            <a:ext cx="4513935" cy="722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‘뷰티 놀이터(Playground)’ 속에서 ‘자극 없는 일상 속 두피 회복 솔루션’을 서브 테마로 명확히 제안.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395728"/>
            <a:ext cx="5099151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2670048"/>
            <a:ext cx="45139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콘셉추얼한 매대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90672"/>
            <a:ext cx="4513935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단순 진열·판매를 넘어, 방문객이 자신의 두피 고민을 인지하고 해답을 스스로 탐색하는 서사적 공간으로 연출.</a:t>
            </a:r>
          </a:p>
        </p:txBody>
      </p:sp>
      <p:pic>
        <p:nvPicPr>
          <p:cNvPr id="14" name="Picture 13" descr="1f715c429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70832"/>
            <a:ext cx="5090007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868680" y="6053328"/>
            <a:ext cx="50900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원료 설명 리플렛</a:t>
            </a:r>
          </a:p>
        </p:txBody>
      </p:sp>
      <p:pic>
        <p:nvPicPr>
          <p:cNvPr id="16" name="Picture 15" descr="7ea8d7ab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370832"/>
            <a:ext cx="5090007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6233007" y="6053328"/>
            <a:ext cx="50900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 spc="-20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성분 안내 · 샘플 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04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방문객의 오감을 자극하는 참여형 저니(Journey)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원료 스토리텔링 · 시향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090672"/>
            <a:ext cx="2728874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특허 ‘톳인삼농축액’, 고함량 식물성 카페인을 코칭하고, 세련된 플로럴 머스크 향을 직접 맡게 하는 콘텐츠.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8802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31410" y="267004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1410" y="285292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촉각적 제형 테스트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1410" y="3273552"/>
            <a:ext cx="2728874" cy="722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마이크로 스피큘 두피 앰플을 손등에 발라보게 해 ‘끈적임 없는 흡수력’과 ‘즉각적 쿨링감’을 현장 체감.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8924" y="2395728"/>
            <a:ext cx="331409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1532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엔터테인먼트 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1532" y="3090672"/>
            <a:ext cx="2728874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카톡 채널 추가·인스타 팔로우 시 ‘꽝 없는 100% 당첨 럭키드로우’ 게임으로 참여 재미 극대화.</a:t>
            </a:r>
          </a:p>
        </p:txBody>
      </p:sp>
      <p:pic>
        <p:nvPicPr>
          <p:cNvPr id="17" name="Picture 16" descr="bb9e90db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pic>
        <p:nvPicPr>
          <p:cNvPr id="18" name="Picture 17" descr="7786c9614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98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pic>
        <p:nvPicPr>
          <p:cNvPr id="19" name="Picture 18" descr="18733c43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116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05  BUZZ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화제성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‘혜자 팝업’ 입소문과 SNS 자발적 바이럴 효과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95728"/>
            <a:ext cx="5099151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1288" y="267004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52928"/>
            <a:ext cx="45139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얼리버드 유입 (오픈런)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273552"/>
            <a:ext cx="4513935" cy="722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“다양한 인디 뷰티 본품 혜택·이벤트” 정보가 뷰티 커뮤니티·SNS로 확산되며 오전 11시 오픈 전부터 대기 수요 발생.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2395728"/>
            <a:ext cx="5099151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2670048"/>
            <a:ext cx="45139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공유 가치가 있는 굿즈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3090672"/>
            <a:ext cx="4513935" cy="905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소장 가치 높은 티코스터·스크런치 증정으로, 방문객이 자발적으로 #모에뜨 #성수팝업 인증샷을 업로드하도록 유도.</a:t>
            </a:r>
          </a:p>
        </p:txBody>
      </p:sp>
      <p:pic>
        <p:nvPicPr>
          <p:cNvPr id="14" name="Picture 13" descr="eef804c8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pic>
        <p:nvPicPr>
          <p:cNvPr id="15" name="Picture 14" descr="ca6e8792d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98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pic>
        <p:nvPicPr>
          <p:cNvPr id="16" name="Picture 15" descr="b73f5da2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116" y="4370832"/>
            <a:ext cx="3301898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06  INDUCEMENT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유도성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오프라인 구매 전환과 온라인 록인(Lock-in)의 연계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12848"/>
            <a:ext cx="10454335" cy="0"/>
          </a:xfrm>
          <a:prstGeom prst="bentConnector3">
            <a:avLst/>
          </a:prstGeom>
          <a:ln w="12700">
            <a:solidFill>
              <a:srgbClr val="D7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395728"/>
            <a:ext cx="331409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즉각적 구매 동기부여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090672"/>
            <a:ext cx="2728874" cy="859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전 제품 50%~최대 58% 파격 팝업 한정 할인가로 가격 장벽을 낮춰 현장 구매를 강력히 유도.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8802" y="2395728"/>
            <a:ext cx="331409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1410" y="267004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구매 넛지(Nudge)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1410" y="3090672"/>
            <a:ext cx="2728874" cy="859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‘1개 구매 시 티코스터, 2개 이상 구매 시 스크런치 추가’ 단계별 사은품으로 객단가 상승 유도.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8924" y="2395728"/>
            <a:ext cx="331409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1532" y="267004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E9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1532" y="2852928"/>
            <a:ext cx="272887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온라인 재유입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1532" y="3273552"/>
            <a:ext cx="2728874" cy="6766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spc="-24">
                <a:solidFill>
                  <a:srgbClr val="55636E"/>
                </a:solidFill>
                <a:latin typeface="Pretendard"/>
                <a:ea typeface="Pretendard"/>
                <a:cs typeface="Pretendard"/>
              </a:rPr>
              <a:t>럭키드로우 상품으로 ‘자사몰 1만원 할인 쿠폰’을 설계, 종료 후에도 온라인 채널로 지속 유입되는 록인 장치.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70832"/>
            <a:ext cx="5029200" cy="1627632"/>
          </a:xfrm>
          <a:prstGeom prst="roundRect">
            <a:avLst>
              <a:gd name="adj" fmla="val 7000"/>
            </a:avLst>
          </a:prstGeom>
          <a:solidFill>
            <a:srgbClr val="EA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572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4">
                <a:solidFill>
                  <a:srgbClr val="0E6CA6"/>
                </a:solidFill>
                <a:latin typeface="Pretendard"/>
                <a:ea typeface="Pretendard"/>
                <a:cs typeface="Pretendard"/>
              </a:rPr>
              <a:t>팝업 한정 할인율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88289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000" b="1" spc="-140">
                <a:solidFill>
                  <a:srgbClr val="1B2A36"/>
                </a:solidFill>
                <a:latin typeface="Pretendard"/>
                <a:ea typeface="Pretendard"/>
                <a:cs typeface="Pretendard"/>
              </a:rPr>
              <a:t>50–58</a:t>
            </a:r>
          </a:p>
          <a:p>
            <a:pPr algn="l"/>
            <a:r>
              <a:rPr sz="2600" b="1" spc="-50">
                <a:solidFill>
                  <a:srgbClr val="1E91CF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6875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전 제품 기준 최대 할인 · 현장 전환 극대화</a:t>
            </a:r>
          </a:p>
        </p:txBody>
      </p:sp>
      <p:pic>
        <p:nvPicPr>
          <p:cNvPr id="21" name="Picture 20" descr="e7a81075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370832"/>
            <a:ext cx="2468880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pic>
        <p:nvPicPr>
          <p:cNvPr id="22" name="Picture 21" descr="74cbd36e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370832"/>
            <a:ext cx="2542032" cy="1627632"/>
          </a:xfrm>
          <a:prstGeom prst="roundRect">
            <a:avLst>
              <a:gd name="adj" fmla="val 5000"/>
            </a:avLst>
          </a:prstGeom>
          <a:effectLst>
            <a:outerShdw blurRad="180000" dist="45000" dir="5400000" rotWithShape="0">
              <a:srgbClr val="13344A">
                <a:alpha val="26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8A949C"/>
                </a:solidFill>
                <a:latin typeface="Pretendard"/>
                <a:ea typeface="Pretendard"/>
                <a:cs typeface="Pretendard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94944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10">
                <a:solidFill>
                  <a:srgbClr val="7FC9EE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6070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500" b="1" spc="-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 및 종합 의견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922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spc="-37">
                <a:solidFill>
                  <a:srgbClr val="B9CBD8"/>
                </a:solidFill>
                <a:latin typeface="Pretendard"/>
                <a:ea typeface="Pretendard"/>
                <a:cs typeface="Pretendard"/>
              </a:rPr>
              <a:t>직접 체험하며 느낀 점 및 총평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86000"/>
            <a:ext cx="10454335" cy="0"/>
          </a:xfrm>
          <a:prstGeom prst="bentConnector3">
            <a:avLst/>
          </a:prstGeom>
          <a:ln w="12700">
            <a:solidFill>
              <a:srgbClr val="163A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560320"/>
            <a:ext cx="5138928" cy="3200400"/>
          </a:xfrm>
          <a:prstGeom prst="roundRect">
            <a:avLst>
              <a:gd name="adj" fmla="val 6000"/>
            </a:avLst>
          </a:prstGeom>
          <a:solidFill>
            <a:srgbClr val="16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>
                <a:solidFill>
                  <a:srgbClr val="7FC9EE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</a:pPr>
            <a:r>
              <a:rPr sz="1250" b="0" spc="-24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외부 자극·스트레스로 두피 고민이 많던 소비자 입장에서 매우 만족스러운 경험. 기능성 탈모 샴푸는 향이 딱딱하고 모발이 뻣뻣해진다는 편견이 있었으나, ‘풍성한 거품·찰랑이는 머릿결·세련된 머스크 향’으로 오프라인 체험이 준 신뢰감을 그대로 이어감.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560320"/>
            <a:ext cx="5138928" cy="3200400"/>
          </a:xfrm>
          <a:prstGeom prst="roundRect">
            <a:avLst>
              <a:gd name="adj" fmla="val 6000"/>
            </a:avLst>
          </a:prstGeom>
          <a:solidFill>
            <a:srgbClr val="16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274320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7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926080"/>
            <a:ext cx="4617720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</a:pPr>
            <a:r>
              <a:rPr sz="1250" b="0" spc="-24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화려한 마케팅 수식어 대신 제품의 본질(Pure Origin)을 강조하고, 이를 성수동이라는 감각적 오프라인 공간 안에서 영리한 혜택 체계(Real Change)로 풀어냄.  </a:t>
            </a:r>
          </a:p>
          <a:p>
            <a:pPr algn="l">
              <a:lnSpc>
                <a:spcPct val="142000"/>
              </a:lnSpc>
            </a:pPr>
            <a:r>
              <a:rPr sz="1250" b="1" spc="-24">
                <a:solidFill>
                  <a:srgbClr val="7FC9EE"/>
                </a:solidFill>
                <a:latin typeface="Pretendard"/>
                <a:ea typeface="Pretendard"/>
                <a:cs typeface="Pretendard"/>
              </a:rPr>
              <a:t>인디 브랜드가 고객 접점을 극대화한 훌륭한 리테일 전략 사례.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08076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spc="-24">
                <a:solidFill>
                  <a:srgbClr val="B9CBD8"/>
                </a:solidFill>
                <a:latin typeface="Pretendard"/>
                <a:ea typeface="Pretendard"/>
                <a:cs typeface="Pretendard"/>
              </a:rPr>
              <a:t>Pure Origin, Real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B9CBD8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B9CBD8"/>
                </a:solidFill>
                <a:latin typeface="Pretendard"/>
                <a:ea typeface="Pretendard"/>
                <a:cs typeface="Pretendard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