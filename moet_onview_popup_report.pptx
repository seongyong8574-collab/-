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75320" y="1417320"/>
            <a:ext cx="3200400" cy="402336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0" y="2331720"/>
            <a:ext cx="3017520" cy="2743200"/>
          </a:xfrm>
          <a:prstGeom prst="roundRect">
            <a:avLst>
              <a:gd name="adj" fmla="val 7000"/>
            </a:avLst>
          </a:prstGeom>
          <a:solidFill>
            <a:srgbClr val="1E2127"/>
          </a:solidFill>
          <a:ln>
            <a:noFill/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0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1000" y="3383280"/>
            <a:ext cx="2377440" cy="0"/>
          </a:xfrm>
          <a:prstGeom prst="bentConnector3">
            <a:avLst/>
          </a:prstGeom>
          <a:ln w="25400">
            <a:solidFill>
              <a:srgbClr val="2A2E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01000" y="3703320"/>
            <a:ext cx="2377440" cy="0"/>
          </a:xfrm>
          <a:prstGeom prst="bentConnector3">
            <a:avLst/>
          </a:prstGeom>
          <a:ln w="25400">
            <a:solidFill>
              <a:srgbClr val="2A2E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01000" y="4023360"/>
            <a:ext cx="1645920" cy="0"/>
          </a:xfrm>
          <a:prstGeom prst="bentConnector3">
            <a:avLst/>
          </a:prstGeom>
          <a:ln w="25400">
            <a:solidFill>
              <a:srgbClr val="2A2E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01000" y="44348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spc="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PURE ORIGIN</a:t>
            </a:r>
          </a:p>
          <a:p>
            <a:pPr algn="l">
              <a:lnSpc>
                <a:spcPct val="115000"/>
              </a:lnSpc>
            </a:pPr>
            <a:r>
              <a:rPr sz="1100" b="0" spc="50">
                <a:solidFill>
                  <a:srgbClr val="0052FF"/>
                </a:solidFill>
                <a:latin typeface="JetBrains Mono"/>
                <a:ea typeface="JetBrains Mono"/>
                <a:cs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 spc="50">
                <a:solidFill>
                  <a:srgbClr val="0052FF"/>
                </a:solidFill>
                <a:latin typeface="JetBrains Mono"/>
                <a:ea typeface="JetBrains Mono"/>
                <a:cs typeface="JetBrains Mono"/>
              </a:rPr>
              <a:t>REAL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234440"/>
            <a:ext cx="2048256" cy="310896"/>
          </a:xfrm>
          <a:prstGeom prst="roundRect">
            <a:avLst>
              <a:gd name="adj" fmla="val 50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16152"/>
            <a:ext cx="204825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spc="5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28800"/>
            <a:ext cx="7498079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5200" b="0" spc="-1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BEAUTY</a:t>
            </a:r>
          </a:p>
          <a:p>
            <a:pPr algn="l">
              <a:lnSpc>
                <a:spcPct val="98000"/>
              </a:lnSpc>
            </a:pPr>
            <a:r>
              <a:rPr sz="5200" b="0" spc="-1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PLAYGROUND</a:t>
            </a:r>
          </a:p>
          <a:p>
            <a:pPr algn="l">
              <a:lnSpc>
                <a:spcPct val="98000"/>
              </a:lnSpc>
            </a:pPr>
            <a:r>
              <a:rPr sz="5200" b="0" spc="-1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 SEONGSU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리테일 공간 팝업스토어 분석 보고서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모에뜨(moét) 브랜드존 중심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5715000"/>
            <a:ext cx="5486400" cy="0"/>
          </a:xfrm>
          <a:prstGeom prst="bentConnector3">
            <a:avLst/>
          </a:prstGeom>
          <a:ln w="12700">
            <a:solidFill>
              <a:srgbClr val="1618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>
                <a:solidFill>
                  <a:srgbClr val="0052FF"/>
                </a:solidFill>
                <a:latin typeface="JetBrains Mono"/>
                <a:ea typeface="JetBrains Mono"/>
                <a:cs typeface="JetBrains Mono"/>
              </a:rPr>
              <a:t>14주차 과제 레포트</a:t>
            </a:r>
          </a:p>
          <a:p>
            <a:pPr algn="l"/>
            <a:r>
              <a:rPr sz="11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   ·   과목명 _______   ·   학번 _______   ·   이름 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453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spc="5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601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69164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3852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spc="1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성수동 중심가에서 개최된 인디 뷰티 큐레이션 플랫폼 ‘오엔뷰(ONVIEW)’와 모에뜨의 협업 팝업스토어. K-뷰티 고관여 MZ세대를 타깃으로, 일시적 제품 판매를 넘어 오감 체험(시향·제형)과 팝업 한정 리워드를 제공하는 ‘경험형 리테일 매장’으로 기획되었음.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82296" cy="914400"/>
          </a:xfrm>
          <a:prstGeom prst="roundRect">
            <a:avLst>
              <a:gd name="adj" fmla="val 0"/>
            </a:avLst>
          </a:prstGeom>
          <a:solidFill>
            <a:srgbClr val="CF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F202F"/>
                </a:solidFill>
                <a:latin typeface="Pretendard"/>
                <a:ea typeface="Pretendard"/>
                <a:cs typeface="Pretendard"/>
              </a:rPr>
              <a:t>⚠ 운영 유의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모에뜨 브랜드존은 6월 4일(목)까지만 조기 운영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938528"/>
            <a:ext cx="44348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1938528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38528"/>
            <a:ext cx="2606039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모에뜨 (moét)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0" y="2715768"/>
            <a:ext cx="3886200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96328" y="2715768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팝업스토어명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15768"/>
            <a:ext cx="2606039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BEAUTY PLAYGROUND IN SEONGSU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78040" y="3493008"/>
            <a:ext cx="3886200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96328" y="3493008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행사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93008"/>
            <a:ext cx="2606039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2026.05.22(금) ~ 06.10(수)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78040" y="4270248"/>
            <a:ext cx="3886200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96328" y="4270248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운영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70248"/>
            <a:ext cx="2606039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11:00 ~ 19:00 (입장 마감 18:30)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78040" y="5047488"/>
            <a:ext cx="3886200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96328" y="5047488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장소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47488"/>
            <a:ext cx="2606039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맵달SEOUL 성수 3F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성동구 성수이로16길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02 / 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장소성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Locality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트렌드세터의 중심지, 성수동 상권과의 유기적 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82296" cy="21945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트렌디한 소비층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국내외 MZ세대 및 K-뷰티 고관여 소비자가 가장 활발하게 유입되는 서울 성수동 중심 상권에 위치.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266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우수한 접근성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266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성수역 3번 출구에서 도보 5분 거리에 위치해 자연스러운 도보 방문객 유입률 확보.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964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공간의 적합성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‘맵달서울’ 3층을 활용, 대형 채널에서 못 보던 신선한 인디 뷰티를 발굴·체험하는 성수동 특유의 감성과 시너지.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17720"/>
            <a:ext cx="10545775" cy="16916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67247" y="5079492"/>
            <a:ext cx="457200" cy="310896"/>
          </a:xfrm>
          <a:prstGeom prst="roundRect">
            <a:avLst>
              <a:gd name="adj" fmla="val 18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0116"/>
            <a:ext cx="1008857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1" spc="12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PHOTO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3층 행사장 진입 복도 및 입구 대기 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03 /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상징성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Symbolism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상품 · 컬러 · 컨셉 · 브랜드 메시지로 구축한 브랜드 아이덴티티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03120"/>
            <a:ext cx="5135727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40863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[1] 상품 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79776"/>
            <a:ext cx="4550511" cy="82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시그니처 스칼프 샴푸(톳수·창포뿌리줄기수 베이스, 식약처 허가 최대치 식물성 카페인)와 두피 앰플(마이크로 스피큘 니들샷 공법)을 중앙 매대에 배치해 고기능성 기술력을 직관적으로 체험.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03120"/>
            <a:ext cx="5135727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5615" y="2340863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[2] 컬러 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5615" y="2779776"/>
            <a:ext cx="4550511" cy="82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메인 스카이 블루(청량함·두피 회복)로 시선을 사로잡고, 미니멀 화이트&amp;그레이(정직함·과학적 근거)로 패키지·베이스 톤을 구성해 신뢰감 있는 무드 조성.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96511"/>
            <a:ext cx="5135727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334255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[3] 컨셉 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773168"/>
            <a:ext cx="4550511" cy="82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원료 설명 카드·감성 엽서로 ‘정직한 성분 연구소’를 전달. 스크런치 착용 안내와 티코스터 증정을 통해 ‘산뜻한 데일리 루틴’을 경험으로 소유하게 설계.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096511"/>
            <a:ext cx="5135727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4096511"/>
            <a:ext cx="82296" cy="17373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4334255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[4] 브랜드 메시지 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4773168"/>
            <a:ext cx="4550511" cy="82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“Pure Origin, Real Change” — 순수한 핵심 원료(Pure Origin)를 고함량 설계해 실제 두피 개선과 긍정적 효과(Real Change)를 체감하게 한다는 약속.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04 /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테마성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Thematic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‘Pure Origin, Real Change’ — 체험 중심의 고기능성 헤어 랩(Lab)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48840"/>
            <a:ext cx="5135727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82296" cy="21945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메인 테마의 구체화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25496"/>
            <a:ext cx="455051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‘뷰티 놀이터(Playground)’라는 전체 테마 속에서 ‘자극 없는 일상 속 두피 회복 솔루션’을 서브 테마로 명확히 제안.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48840"/>
            <a:ext cx="5135727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5615" y="2386584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콘셉추얼한 매대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825496"/>
            <a:ext cx="455051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단순 진열·판매를 넘어, 방문객이 자신의 두피 고민(열감·모발 빠짐·유분)을 인지하고 해답을 스스로 탐색하는 서사적 공간으로 연출.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10545775" cy="16916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67247" y="5079492"/>
            <a:ext cx="457200" cy="310896"/>
          </a:xfrm>
          <a:prstGeom prst="roundRect">
            <a:avLst>
              <a:gd name="adj" fmla="val 18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00116"/>
            <a:ext cx="1008857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1" spc="12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PHOTO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원료 설명 리플렛·감성 엽서가 함께 디스플레이된 매대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05 / 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콘텐츠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방문객의 오감을 자극하는 참여형 저니(Journey)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원료 스토리텔링 · 시향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특허 ‘톳인삼농축액’, 고함량 식물성 카페인을 코칭하고, 세련된 플로럴 머스크 향을 직접 맡게 하는 청각·후각 콘텐츠.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9658" y="2148840"/>
            <a:ext cx="82296" cy="21945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266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촉각적 제형 테스트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266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마이크로 스피큘(니들샷) 두피 앰플을 손등에 발라보게 해 ‘끈적임 없는 흡수력’과 ‘즉각적 쿨링감’을 현장 체감.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964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엔터테인먼트 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카카오톡 채널 추가·인스타그램 팔로우 시 ‘꽝 없는 100% 당첨 럭키드로우’ 뽑기 게임으로 참여 재미 극대화.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17720"/>
            <a:ext cx="10545775" cy="16916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67247" y="5079492"/>
            <a:ext cx="457200" cy="310896"/>
          </a:xfrm>
          <a:prstGeom prst="roundRect">
            <a:avLst>
              <a:gd name="adj" fmla="val 18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0116"/>
            <a:ext cx="1008857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1" spc="12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PHOTO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두피 앰플 테스팅 장면 및 럭키드로우 돌리기 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06 /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화제성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Buzz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‘혜자 팝업’ 입소문과 SNS 자발적 바이럴 효과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48840"/>
            <a:ext cx="5135727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82296" cy="21945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얼리버드 유입 (오픈런)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25496"/>
            <a:ext cx="455051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“다양한 인디 뷰티 본품 혜택과 다채로운 이벤트”라는 정보가 온라인 뷰티 커뮤니티·SNS로 확산되며 오전 11시 오픈 전부터 대기 수요 발생.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48840"/>
            <a:ext cx="5135727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5615" y="2386584"/>
            <a:ext cx="45505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공유 가치가 있는 굿즈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825496"/>
            <a:ext cx="455051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소장 가치 높은 티코스터와 세련된 스크런치 증정으로, 방문객이 자발적으로 #모에뜨 #성수팝업 인증샷을 업로드하도록 유도.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10545775" cy="16916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67247" y="5079492"/>
            <a:ext cx="457200" cy="310896"/>
          </a:xfrm>
          <a:prstGeom prst="roundRect">
            <a:avLst>
              <a:gd name="adj" fmla="val 18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00116"/>
            <a:ext cx="1008857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1" spc="12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PHOTO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인스타그램 피드 캡처 · 방문 인플루언서 인증샷 레이아웃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07 / 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0" spc="-20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603504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0" spc="-100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유도성</a:t>
            </a:r>
          </a:p>
          <a:p>
            <a:pPr algn="l"/>
            <a:r>
              <a:rPr sz="150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   Inducement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오프라인 구매 전환과 온라인 록인(Lock-in)의 연계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10545775" cy="0"/>
          </a:xfrm>
          <a:prstGeom prst="bentConnector3">
            <a:avLst/>
          </a:prstGeom>
          <a:ln w="12700">
            <a:solidFill>
              <a:srgbClr val="DE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즉각적 구매 동기부여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전 제품 50%~최대 58% 파격 팝업 한정 할인가로 가격 장벽을 무너뜨려 현장 구매를 강력히 유도.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266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구매 넛지(Nudge)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266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‘1개 구매 시 티코스터, 2개 이상 구매 시 스크런치 추가’ 단계별 사은품으로 자연스러운 객단가 상승 유도.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2148840"/>
            <a:ext cx="3332378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1E6"/>
            </a:solidFill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82296" cy="219456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964" y="2386584"/>
            <a:ext cx="27471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>
                <a:solidFill>
                  <a:srgbClr val="0A0B0D"/>
                </a:solidFill>
                <a:latin typeface="Pretendard"/>
                <a:ea typeface="Pretendard"/>
                <a:cs typeface="Pretendard"/>
              </a:rPr>
              <a:t>온라인 재유입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825496"/>
            <a:ext cx="2747162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616E"/>
                </a:solidFill>
                <a:latin typeface="Pretendard"/>
                <a:ea typeface="Pretendard"/>
                <a:cs typeface="Pretendard"/>
              </a:rPr>
              <a:t>럭키드로우 상품으로 ‘자사몰 1만원 할인 쿠폰’을 설계, 팝업 종료 후에도 온라인 채널로 지속 유입되는 록인 장치 마련.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17720"/>
            <a:ext cx="6766560" cy="16916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12700">
            <a:solidFill>
              <a:srgbClr val="DE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77640" y="5079492"/>
            <a:ext cx="457200" cy="310896"/>
          </a:xfrm>
          <a:prstGeom prst="roundRect">
            <a:avLst>
              <a:gd name="adj" fmla="val 18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0116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1" spc="12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PHOTO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7C828A"/>
                </a:solidFill>
                <a:latin typeface="Pretendard"/>
                <a:ea typeface="Pretendard"/>
                <a:cs typeface="Pretendard"/>
              </a:rPr>
              <a:t>최종 구매 후 수령한 샴푸·티코스터·스크런치 언박싱 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617720"/>
            <a:ext cx="3566160" cy="1691640"/>
          </a:xfrm>
          <a:prstGeom prst="roundRect">
            <a:avLst>
              <a:gd name="adj" fmla="val 7000"/>
            </a:avLst>
          </a:prstGeom>
          <a:solidFill>
            <a:srgbClr val="0A0B0D"/>
          </a:solidFill>
          <a:ln>
            <a:noFill/>
          </a:ln>
          <a:effectLst/>
          <a:effectLst>
            <a:outerShdw blurRad="152400" dist="508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800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spc="5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팝업 한정 할인율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07492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50–58</a:t>
            </a:r>
          </a:p>
          <a:p>
            <a:pPr algn="l"/>
            <a:r>
              <a:rPr sz="2200" b="0">
                <a:solidFill>
                  <a:srgbClr val="0052FF"/>
                </a:solidFill>
                <a:latin typeface="JetBrains Mono"/>
                <a:ea typeface="JetBrains Mono"/>
                <a:cs typeface="JetBrains Mono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943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전 제품 기준 최대 할인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08 / 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858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6751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spc="5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97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0" spc="-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 및 종합 의견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직접 체험하며 느낀 점 및 총평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2377440"/>
            <a:ext cx="10509199" cy="0"/>
          </a:xfrm>
          <a:prstGeom prst="bentConnector3">
            <a:avLst/>
          </a:prstGeom>
          <a:ln w="12700">
            <a:solidFill>
              <a:srgbClr val="1618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606040"/>
            <a:ext cx="5166360" cy="324612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400" b="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외부 자극·스트레스로 두피 고민이 많던 소비자 입장에서 매우 만족스러운 경험. 기능성 탈모 샴푸는 향이 딱딱하고 모발이 뻣뻣해진다는 편견이 있었으나, ‘풍성한 거품·찰랑이는 머릿결·세련된 머스크 향’으로 오프라인 체험이 준 신뢰감을 그대로 이어감.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06040"/>
            <a:ext cx="5166360" cy="324612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606040"/>
            <a:ext cx="82296" cy="3246120"/>
          </a:xfrm>
          <a:prstGeom prst="roundRect">
            <a:avLst>
              <a:gd name="adj" fmla="val 0"/>
            </a:avLst>
          </a:prstGeom>
          <a:solidFill>
            <a:srgbClr val="00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400" b="0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375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화려한 마케팅 수식어 대신 제품의 본질(Pure Origin)을 강조하고, 이를 성수동이라는 감각적 오프라인 공간 안에서 영리한 혜택 체계(Real Change)로 풀어냄. 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052FF"/>
                </a:solidFill>
                <a:latin typeface="Pretendard"/>
                <a:ea typeface="Pretendard"/>
                <a:cs typeface="Pretendard"/>
              </a:rPr>
              <a:t>인디 브랜드가 고객 접점을 극대화한 훌륭한 리테일 전략 사례.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0" spc="5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Pure Origin, Real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>
                <a:solidFill>
                  <a:srgbClr val="A8ACB3"/>
                </a:solidFill>
                <a:latin typeface="JetBrains Mono"/>
                <a:ea typeface="JetBrains Mono"/>
                <a:cs typeface="JetBrains Mono"/>
              </a:rPr>
              <a:t>09 /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>
                <a:solidFill>
                  <a:srgbClr val="A8ACB3"/>
                </a:solidFill>
                <a:latin typeface="Pretendard"/>
                <a:ea typeface="Pretendard"/>
                <a:cs typeface="Pretendard"/>
              </a:rPr>
              <a:t>moét × ONVIEW · 성수 팝업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