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팝업 리테일 공간 분석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500" b="1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팝업 리테일 공간 분석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1277295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2000"/>
              </a:lnSpc>
            </a:pPr>
            <a:r>
              <a:rPr sz="6000" b="1" spc="-14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BEAUTY PLAYGROUND</a:t>
            </a:r>
          </a:p>
          <a:p>
            <a:pPr algn="ctr">
              <a:lnSpc>
                <a:spcPct val="102000"/>
              </a:lnSpc>
            </a:pPr>
            <a:r>
              <a:rPr sz="6000" b="1" spc="-14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IN SEONGSU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6052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</a:pPr>
            <a:r>
              <a:rPr sz="2100" b="0" spc="-2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리테일 공간 팝업스토어 분석 보고서</a:t>
            </a:r>
          </a:p>
          <a:p>
            <a:pPr algn="ctr">
              <a:lnSpc>
                <a:spcPct val="135000"/>
              </a:lnSpc>
            </a:pPr>
            <a:r>
              <a:rPr sz="160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35000"/>
              </a:lnSpc>
            </a:pPr>
            <a:r>
              <a:rPr sz="160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모에뜨(moét) 브랜드존 중심  ·  moét × ONVIEW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1327" y="52578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1327" y="5257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spc="-2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분석 개요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5257800"/>
            <a:ext cx="1737360" cy="45720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3007" y="5257800"/>
            <a:ext cx="17373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1300" b="0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종합 의견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52647" y="6126480"/>
            <a:ext cx="5486400" cy="0"/>
          </a:xfrm>
          <a:prstGeom prst="bentConnector3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626364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20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14주차 과제 레포트   ·   과목명 _______   ·   학번 _______   ·   이름 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2412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1828800"/>
            <a:ext cx="10454335" cy="0"/>
          </a:xfrm>
          <a:prstGeom prst="bentConnector3">
            <a:avLst/>
          </a:prstGeom>
          <a:ln w="12700">
            <a:solidFill>
              <a:srgbClr val="E0E0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68680" y="2084831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1" spc="-12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WHAT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32304"/>
            <a:ext cx="5669280" cy="3108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600" b="0" spc="-37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성수동 중심가에서 개최된 인디 뷰티 큐레이션 플랫폼 ‘오엔뷰(ONVIEW)’와 모에뜨의 협업 팝업스토어. K-뷰티 고관여 MZ세대를 타깃으로, 일시적 제품 판매를 넘어 오감 체험(시향·제형)과 팝업 한정 리워드를 제공하는 ‘경험형 리테일 매장’으로 기획되었음.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29200"/>
            <a:ext cx="5669280" cy="868680"/>
          </a:xfrm>
          <a:prstGeom prst="roundRect">
            <a:avLst>
              <a:gd name="adj" fmla="val 10000"/>
            </a:avLst>
          </a:prstGeom>
          <a:solidFill>
            <a:srgbClr val="FAFAFC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5175504"/>
            <a:ext cx="52120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1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운영 유의</a:t>
            </a:r>
          </a:p>
          <a:p>
            <a:pPr algn="l">
              <a:lnSpc>
                <a:spcPct val="130000"/>
              </a:lnSpc>
            </a:pPr>
            <a:r>
              <a:rPr sz="1300" b="0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 b="0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모에뜨 브랜드존은 6월 4일(목)까지만 조기 운영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2084831"/>
            <a:ext cx="4434840" cy="38130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14616" y="2084831"/>
            <a:ext cx="1417320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spc="-24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브랜드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084831"/>
            <a:ext cx="2514599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24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모에뜨 (moét)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96328" y="2847441"/>
            <a:ext cx="3849624" cy="0"/>
          </a:xfrm>
          <a:prstGeom prst="bentConnector3">
            <a:avLst/>
          </a:prstGeom>
          <a:ln w="12700">
            <a:solidFill>
              <a:srgbClr val="F0F0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214616" y="2847441"/>
            <a:ext cx="1417320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spc="-24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팝업스토어명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847441"/>
            <a:ext cx="2514599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24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BEAUTY PLAYGROUND IN SEONGSU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96328" y="3610051"/>
            <a:ext cx="3849624" cy="0"/>
          </a:xfrm>
          <a:prstGeom prst="bentConnector3">
            <a:avLst/>
          </a:prstGeom>
          <a:ln w="12700">
            <a:solidFill>
              <a:srgbClr val="F0F0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14616" y="3610051"/>
            <a:ext cx="1417320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spc="-24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행사 기간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610051"/>
            <a:ext cx="2514599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24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2026.05.22(금) ~ 06.10(수)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6328" y="4372660"/>
            <a:ext cx="3849624" cy="0"/>
          </a:xfrm>
          <a:prstGeom prst="bentConnector3">
            <a:avLst/>
          </a:prstGeom>
          <a:ln w="12700">
            <a:solidFill>
              <a:srgbClr val="F0F0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14616" y="4372660"/>
            <a:ext cx="1417320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spc="-24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운영 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372660"/>
            <a:ext cx="2514599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24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11:00 ~ 19:00 (입장 마감 18:30)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96328" y="5135270"/>
            <a:ext cx="3849624" cy="0"/>
          </a:xfrm>
          <a:prstGeom prst="bentConnector3">
            <a:avLst/>
          </a:prstGeom>
          <a:ln w="12700">
            <a:solidFill>
              <a:srgbClr val="F0F0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14616" y="5135270"/>
            <a:ext cx="1417320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spc="-24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장소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5135270"/>
            <a:ext cx="2514599" cy="762609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24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맵달SEOUL 성수 3F</a:t>
            </a:r>
          </a:p>
          <a:p>
            <a:pPr algn="l">
              <a:lnSpc>
                <a:spcPct val="115000"/>
              </a:lnSpc>
            </a:pPr>
            <a:r>
              <a:rPr sz="1200" b="1" spc="-24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성동구 성수이로16길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01  LOCALITY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241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장소성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트렌드세터의 중심지, 성수동 상권과의 유기적 결합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3314090" cy="210312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2606039"/>
            <a:ext cx="384048" cy="9144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278892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트렌디한 소비층 밀집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3209544"/>
            <a:ext cx="2692298" cy="1005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국내외 MZ세대 및 K-뷰티 고관여 소비자가 가장 활발하게 유입되는 서울 성수동 중심 상권에 위치.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8802" y="2331720"/>
            <a:ext cx="3314090" cy="210312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606039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우수한 접근성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3026663"/>
            <a:ext cx="2692298" cy="1188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성수역 3번 출구에서 도보 5분 거리에 위치해 자연스러운 도보 방문객 유입률 확보.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8924" y="2331720"/>
            <a:ext cx="3314090" cy="210312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9820" y="2606039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공간의 적합성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9820" y="3026663"/>
            <a:ext cx="2692298" cy="1188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‘맵달서울’ 3층을 활용, 대형 채널에서 못 보던 신선한 인디 뷰티를 발굴·체험하는 성수동 특유의 감성과 시너지.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663440"/>
            <a:ext cx="10454335" cy="1600200"/>
          </a:xfrm>
          <a:prstGeom prst="roundRect">
            <a:avLst>
              <a:gd name="adj" fmla="val 4500"/>
            </a:avLst>
          </a:prstGeom>
          <a:solidFill>
            <a:srgbClr val="252527"/>
          </a:solidFill>
          <a:ln>
            <a:noFill/>
          </a:ln>
          <a:effectLst/>
          <a:effectLst>
            <a:outerShdw blurRad="285750" dist="55539" dir="35424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44387" y="5042916"/>
            <a:ext cx="502920" cy="329184"/>
          </a:xfrm>
          <a:prstGeom prst="roundRect">
            <a:avLst>
              <a:gd name="adj" fmla="val 16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81827"/>
            <a:ext cx="99971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제품/현장 이미지</a:t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3층 행사장 진입 복도 및 입구 대기 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02  SYMBOLISM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241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상징성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상품 · 컬러 · 컨셉 · 브랜드 메시지로 구축한 브랜드 아이덴티티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5099151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2560320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[1] 상품 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2980944"/>
            <a:ext cx="4477359" cy="841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시그니처 스칼프 샴푸(톳수·창포뿌리줄기수 베이스, 식약처 허가 최대치 식물성 카페인)와 두피 앰플(마이크로 스피큘 니들샷 공법)을 중앙 매대에 배치, 고기능성 기술력을 직관적으로 체험.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863" y="2286000"/>
            <a:ext cx="5099151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4759" y="2560320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[2] 컬러  Color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759" y="2980944"/>
            <a:ext cx="4477359" cy="841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메인 스카이 블루(청량함·두피 회복)로 시선을 사로잡고, 미니멀 화이트&amp;그레이(정직함·과학적 근거)로 패키지·베이스 톤을 구성해 신뢰감 있는 무드 조성.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279392"/>
            <a:ext cx="5099151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9576" y="4553712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[3] 컨셉  Concept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9576" y="4974336"/>
            <a:ext cx="4477359" cy="8412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원료 설명 카드·감성 엽서로 ‘정직한 성분 연구소’를 전달. 스크런치 안내와 티코스터 증정을 통해 ‘산뜻한 데일리 루틴’을 경험으로 소유하게 설계.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4279392"/>
            <a:ext cx="5099151" cy="175564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4759" y="4553712"/>
            <a:ext cx="384048" cy="914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4759" y="4736592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[4] 브랜드 메시지  Message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4759" y="5157216"/>
            <a:ext cx="4477359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“Pure Origin, Real Change” — 순수한 핵심 원료(Pure Origin)를 고함량 설계해 실제 두피 개선과 긍정적 효과(Real Change)를 체감하게 한다는 약속.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03  THEMATIC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241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테마성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‘Pure Origin, Real Change’ — 체험 중심의 고기능성 헤어 랩(Lab)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5099151" cy="210312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2606039"/>
            <a:ext cx="384048" cy="9144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2788920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메인 테마의 구체화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3209544"/>
            <a:ext cx="4477359" cy="1005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‘뷰티 놀이터(Playground)’라는 전체 테마 속에서 ‘자극 없는 일상 속 두피 회복 솔루션’을 서브 테마로 명확히 제안.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2331720"/>
            <a:ext cx="5099151" cy="210312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759" y="2606039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콘셉추얼한 매대 구성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759" y="3026663"/>
            <a:ext cx="4477359" cy="1188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단순 진열·판매를 넘어, 방문객이 자신의 두피 고민(열감·모발 빠짐·유분)을 인지하고 해답을 스스로 탐색하는 서사적 공간으로 연출.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63440"/>
            <a:ext cx="10454335" cy="1600200"/>
          </a:xfrm>
          <a:prstGeom prst="roundRect">
            <a:avLst>
              <a:gd name="adj" fmla="val 4500"/>
            </a:avLst>
          </a:prstGeom>
          <a:solidFill>
            <a:srgbClr val="252527"/>
          </a:solidFill>
          <a:ln>
            <a:noFill/>
          </a:ln>
          <a:effectLst/>
          <a:effectLst>
            <a:outerShdw blurRad="285750" dist="55539" dir="35424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44387" y="5042916"/>
            <a:ext cx="502920" cy="329184"/>
          </a:xfrm>
          <a:prstGeom prst="roundRect">
            <a:avLst>
              <a:gd name="adj" fmla="val 16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81827"/>
            <a:ext cx="99971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제품/현장 이미지</a:t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원료 설명 리플렛·감성 엽서가 함께 디스플레이된 매대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04 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241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콘텐츠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방문객의 오감을 자극하는 참여형 저니(Journey)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331409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2606039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원료 스토리텔링 · 시향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3026663"/>
            <a:ext cx="2692298" cy="1188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특허 ‘톳인삼농축액’, 고함량 식물성 카페인을 코칭하고, 세련된 플로럴 머스크 향을 직접 맡게 하는 청각·후각 콘텐츠.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8802" y="2331720"/>
            <a:ext cx="331409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49698" y="2606039"/>
            <a:ext cx="384048" cy="914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78892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촉각적 제형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3209544"/>
            <a:ext cx="2692298" cy="1005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마이크로 스피큘(니들샷) 두피 앰플을 손등에 발라보게 해 ‘끈적임 없는 흡수력’과 ‘즉각적 쿨링감’을 현장 체감.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8924" y="2331720"/>
            <a:ext cx="3314090" cy="2103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9820" y="2606039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엔터테인먼트 요소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9820" y="3026663"/>
            <a:ext cx="2692298" cy="1188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카카오톡 채널 추가·인스타그램 팔로우 시 ‘꽝 없는 100% 당첨 럭키드로우’ 뽑기 게임으로 참여 재미 극대화.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663440"/>
            <a:ext cx="10454335" cy="160020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>
            <a:noFill/>
          </a:ln>
          <a:effectLst/>
          <a:effectLst>
            <a:outerShdw blurRad="285750" dist="55539" dir="35424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44387" y="5042916"/>
            <a:ext cx="502920" cy="329184"/>
          </a:xfrm>
          <a:prstGeom prst="roundRect">
            <a:avLst>
              <a:gd name="adj" fmla="val 16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81827"/>
            <a:ext cx="99971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제품/현장 이미지</a:t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두피 앰플 테스팅 장면 및 럭키드로우 돌리기 기계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05  BUZZ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241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화제성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‘혜자 팝업’ 입소문과 SNS 자발적 바이럴 효과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5099151" cy="210312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79576" y="2606039"/>
            <a:ext cx="384048" cy="9144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79576" y="2788920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얼리버드 유입 (오픈런)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9576" y="3209544"/>
            <a:ext cx="4477359" cy="10058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“다양한 인디 뷰티 본품 혜택과 다채로운 이벤트”라는 정보가 온라인 뷰티 커뮤니티·SNS로 확산되며 오전 11시 오픈 전부터 대기 수요 발생.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863" y="2331720"/>
            <a:ext cx="5099151" cy="2103120"/>
          </a:xfrm>
          <a:prstGeom prst="roundRect">
            <a:avLst>
              <a:gd name="adj" fmla="val 7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4759" y="2606039"/>
            <a:ext cx="44773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공유 가치가 있는 굿즈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4759" y="3026663"/>
            <a:ext cx="4477359" cy="11887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소장 가치 높은 티코스터와 세련된 스크런치 증정으로, 방문객이 자발적으로 #모에뜨 #성수팝업 인증샷을 업로드하도록 유도.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663440"/>
            <a:ext cx="10454335" cy="1600200"/>
          </a:xfrm>
          <a:prstGeom prst="roundRect">
            <a:avLst>
              <a:gd name="adj" fmla="val 4500"/>
            </a:avLst>
          </a:prstGeom>
          <a:solidFill>
            <a:srgbClr val="252527"/>
          </a:solidFill>
          <a:ln>
            <a:noFill/>
          </a:ln>
          <a:effectLst/>
          <a:effectLst>
            <a:outerShdw blurRad="285750" dist="55539" dir="35424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844387" y="5042916"/>
            <a:ext cx="502920" cy="329184"/>
          </a:xfrm>
          <a:prstGeom prst="roundRect">
            <a:avLst>
              <a:gd name="adj" fmla="val 16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81827"/>
            <a:ext cx="999713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제품/현장 이미지</a:t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인스타그램 피드 캡처 · 방문 인플루언서 인증샷 레이아웃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58368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06  INDUCEMENT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24128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유도성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5564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1500" b="0" spc="-37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오프라인 구매 전환과 온라인 록인(Lock-in)의 연계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331409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2606039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즉각적 구매 동기부여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9576" y="3026663"/>
            <a:ext cx="269229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전 제품 50%~최대 58% 파격 팝업 한정 할인가로 가격 장벽을 무너뜨려 현장 구매를 강력히 유도.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8802" y="2331720"/>
            <a:ext cx="331409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49698" y="2606039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구매 넛지(Nudge)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9698" y="3026663"/>
            <a:ext cx="2692298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‘1개 구매 시 티코스터, 2개 이상 구매 시 스크런치 추가’ 단계별 사은품으로 자연스러운 객단가 상승 유도.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8924" y="2331720"/>
            <a:ext cx="331409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19820" y="2606039"/>
            <a:ext cx="384048" cy="9144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9820" y="2788920"/>
            <a:ext cx="269229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450" b="1" spc="-37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온라인 재유입 전략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9820" y="3209544"/>
            <a:ext cx="269229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</a:pPr>
            <a:r>
              <a:rPr sz="1150" b="0" spc="-24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럭키드로우 상품으로 ‘자사몰 1만원 할인 쿠폰’을 설계, 팝업 종료 후에도 온라인 채널로 지속 유입되는 록인 장치 마련.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34840"/>
            <a:ext cx="6766560" cy="1828800"/>
          </a:xfrm>
          <a:prstGeom prst="roundRect">
            <a:avLst>
              <a:gd name="adj" fmla="val 60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6634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4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팝업 한정 할인율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4983480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5800" b="1" spc="-150">
                <a:solidFill>
                  <a:srgbClr val="1D1D1F"/>
                </a:solidFill>
                <a:latin typeface="Pretendard"/>
                <a:ea typeface="Pretendard"/>
                <a:cs typeface="Pretendard"/>
              </a:rPr>
              <a:t>50–58</a:t>
            </a:r>
          </a:p>
          <a:p>
            <a:pPr algn="l"/>
            <a:r>
              <a:rPr sz="3000" b="1" spc="-50">
                <a:solidFill>
                  <a:srgbClr val="0066CC"/>
                </a:solidFill>
                <a:latin typeface="Pretendard"/>
                <a:ea typeface="Pretendard"/>
                <a:cs typeface="Pretendard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897880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spc="-24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전 제품 기준 최대 할인 · 현장 구매 전환 극대화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434840"/>
            <a:ext cx="3456432" cy="182880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>
            <a:noFill/>
          </a:ln>
          <a:effectLst/>
          <a:effectLst>
            <a:outerShdw blurRad="285750" dist="55539" dir="3542400" rotWithShape="0">
              <a:srgbClr val="00000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40596" y="4928616"/>
            <a:ext cx="502920" cy="329184"/>
          </a:xfrm>
          <a:prstGeom prst="roundRect">
            <a:avLst>
              <a:gd name="adj" fmla="val 16000"/>
            </a:avLst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5367527"/>
            <a:ext cx="2999232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제품/현장 이미지</a:t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pPr algn="ctr">
              <a:lnSpc>
                <a:spcPct val="115000"/>
              </a:lnSpc>
            </a:pPr>
            <a:r>
              <a:rPr sz="950" b="0" spc="-20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샴푸·티코스터·스크런치 언박싱 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7A7A7A"/>
                </a:solidFill>
                <a:latin typeface="Pretendard"/>
                <a:ea typeface="Pretendard"/>
                <a:cs typeface="Pretendard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713232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300" b="1" spc="-20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078992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3600" b="1" spc="-6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결론 및 종합 의견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10512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500" b="0" spc="-37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직접 체험하며 느낀 점 및 총평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2331720"/>
            <a:ext cx="10454335" cy="0"/>
          </a:xfrm>
          <a:prstGeom prst="bentConnector3">
            <a:avLst/>
          </a:prstGeom>
          <a:ln w="12700">
            <a:solidFill>
              <a:srgbClr val="2A2A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68680" y="2606040"/>
            <a:ext cx="5138928" cy="3200400"/>
          </a:xfrm>
          <a:prstGeom prst="roundRect">
            <a:avLst>
              <a:gd name="adj" fmla="val 6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9144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4600" b="1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291840"/>
            <a:ext cx="461772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</a:pPr>
            <a:r>
              <a:rPr sz="1250" b="0" spc="-24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외부 자극·스트레스로 두피 고민이 많던 소비자 입장에서 매우 만족스러운 경험. 기능성 탈모 샴푸는 향이 딱딱하고 모발이 뻣뻣해진다는 편견이 있었으나, ‘풍성한 거품·찰랑이는 머릿결·세련된 머스크 향’으로 오프라인 체험이 준 신뢰감을 그대로 이어감.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2606040"/>
            <a:ext cx="5138928" cy="3200400"/>
          </a:xfrm>
          <a:prstGeom prst="roundRect">
            <a:avLst>
              <a:gd name="adj" fmla="val 6000"/>
            </a:avLst>
          </a:prstGeom>
          <a:solidFill>
            <a:srgbClr val="2A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28232" y="2788920"/>
            <a:ext cx="384048" cy="9144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971800"/>
            <a:ext cx="4617720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2000"/>
              </a:lnSpc>
            </a:pPr>
            <a:r>
              <a:rPr sz="1250" b="0" spc="-24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화려한 마케팅 수식어 대신 제품의 본질(Pure Origin)을 강조하고, 이를 성수동이라는 감각적 오프라인 공간 안에서 영리한 혜택 체계(Real Change)로 풀어냄.  </a:t>
            </a:r>
          </a:p>
          <a:p>
            <a:pPr algn="l">
              <a:lnSpc>
                <a:spcPct val="142000"/>
              </a:lnSpc>
            </a:pPr>
            <a:r>
              <a:rPr sz="1250" b="1" spc="-24">
                <a:solidFill>
                  <a:srgbClr val="2997FF"/>
                </a:solidFill>
                <a:latin typeface="Pretendard"/>
                <a:ea typeface="Pretendard"/>
                <a:cs typeface="Pretendard"/>
              </a:rPr>
              <a:t>인디 브랜드가 고객 접점을 극대화한 훌륭한 리테일 전략 사례.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12648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300" b="0" spc="-24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Pure Origin, Real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382512"/>
            <a:ext cx="64008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moét × ONVIEW · BEAUTY PLAYGROUND IN SEONGSU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62895" y="6382512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r"/>
            <a:r>
              <a:rPr sz="950" b="0" spc="-12">
                <a:solidFill>
                  <a:srgbClr val="CCCCCC"/>
                </a:solidFill>
                <a:latin typeface="Pretendard"/>
                <a:ea typeface="Pretendard"/>
                <a:cs typeface="Pretendard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